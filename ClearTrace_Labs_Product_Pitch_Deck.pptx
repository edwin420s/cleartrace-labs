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43800" y="0"/>
            <a:ext cx="4647895" cy="6858000"/>
          </a:xfrm>
          <a:prstGeom prst="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75320" y="1051560"/>
            <a:ext cx="2971800" cy="960120"/>
          </a:xfrm>
          <a:prstGeom prst="roundRect">
            <a:avLst/>
          </a:prstGeom>
          <a:solidFill>
            <a:srgbClr val="1D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32520" y="2359152"/>
            <a:ext cx="2514600" cy="960120"/>
          </a:xfrm>
          <a:prstGeom prst="roundRect">
            <a:avLst/>
          </a:prstGeom>
          <a:solidFill>
            <a:srgbClr val="1C4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0" y="3657600"/>
            <a:ext cx="3200400" cy="960120"/>
          </a:xfrm>
          <a:prstGeom prst="round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280160"/>
            <a:ext cx="2468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6F9FC"/>
                </a:solidFill>
                <a:latin typeface="Aptos"/>
              </a:defRPr>
            </a:pPr>
            <a:r>
              <a:t>RECORD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2587752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6F9FC"/>
                </a:solidFill>
                <a:latin typeface="Aptos"/>
              </a:defRPr>
            </a:pPr>
            <a:r>
              <a:t>RECORD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3886200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2FD3B5"/>
                </a:solidFill>
                <a:latin typeface="Aptos"/>
              </a:defRPr>
            </a:pPr>
            <a:r>
              <a:t>CLEAR DECISION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84080" y="2011680"/>
            <a:ext cx="0" cy="320040"/>
          </a:xfrm>
          <a:prstGeom prst="line">
            <a:avLst/>
          </a:prstGeom>
          <a:ln w="25400">
            <a:solidFill>
              <a:srgbClr val="2F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3319272"/>
            <a:ext cx="0" cy="310896"/>
          </a:xfrm>
          <a:prstGeom prst="line">
            <a:avLst/>
          </a:prstGeom>
          <a:ln w="25400">
            <a:solidFill>
              <a:srgbClr val="2F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74980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PRODUCT PITCH  •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17320"/>
            <a:ext cx="621792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3800" b="1" i="0">
                <a:solidFill>
                  <a:srgbClr val="F6F9FC"/>
                </a:solidFill>
                <a:latin typeface="Aptos"/>
              </a:defRPr>
            </a:pPr>
            <a:r>
              <a:t>ClearTrace</a:t>
            </a:r>
          </a:p>
          <a:p>
            <a:pPr algn="l">
              <a:spcAft>
                <a:spcPts val="500"/>
              </a:spcAft>
              <a:defRPr sz="3800" b="1" i="0">
                <a:solidFill>
                  <a:srgbClr val="F6F9FC"/>
                </a:solidFill>
                <a:latin typeface="Aptos"/>
              </a:defRPr>
            </a:pPr>
            <a:r>
              <a:t>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60350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500" b="1" i="0">
                <a:solidFill>
                  <a:srgbClr val="F6F9FC"/>
                </a:solidFill>
                <a:latin typeface="Aptos"/>
              </a:defRPr>
            </a:pPr>
            <a:r>
              <a:t>When records disagree,</a:t>
            </a:r>
          </a:p>
          <a:p>
            <a:pPr algn="l">
              <a:spcAft>
                <a:spcPts val="500"/>
              </a:spcAft>
              <a:defRPr sz="2500" b="1" i="0">
                <a:solidFill>
                  <a:srgbClr val="F6F9FC"/>
                </a:solidFill>
                <a:latin typeface="Aptos"/>
              </a:defRPr>
            </a:pPr>
            <a:r>
              <a:t>make the next decision clear.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5152"/>
            <a:ext cx="55778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A9B9CA"/>
                </a:solidFill>
                <a:latin typeface="Aptos"/>
              </a:defRPr>
            </a:pPr>
            <a:r>
              <a:t>An evidence-first investigation workspace for resolving conflicting claims, reducing costly mistakes, and making decisions people can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6188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Two sides. One evidence trail. Accountable outcomes.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6F9FC"/>
                </a:solidFill>
                <a:latin typeface="Aptos"/>
              </a:defRPr>
            </a:pPr>
            <a:r>
              <a:t>Disagreement is expensive. Uncertainty is even worse.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Organizations often have the records—but not a trusted way to resolve what they mean.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291072"/>
            <a:ext cx="109270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1908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CLEARTRACE LABS  •  DECISIONS GROUNDED IN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493008" cy="292608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91440" cy="2926080"/>
          </a:xfrm>
          <a:prstGeom prst="rect">
            <a:avLst/>
          </a:prstGeom>
          <a:solidFill>
            <a:srgbClr val="FF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688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FB05C"/>
                </a:solidFill>
                <a:latin typeface="Aptos"/>
              </a:defRPr>
            </a:pPr>
            <a:r>
              <a:t>MONEY LEAKS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71800"/>
            <a:ext cx="28803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6F9FC"/>
                </a:solidFill>
                <a:latin typeface="Aptos"/>
              </a:defRPr>
            </a:pPr>
            <a:r>
              <a:t>Invoices, purchase orders, and delivery notes tell different stories.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89120"/>
            <a:ext cx="2880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A9B9CA"/>
                </a:solidFill>
                <a:latin typeface="Aptos"/>
              </a:defRPr>
            </a:pPr>
            <a:r>
              <a:t>KSh 5,000 potential variance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148840"/>
            <a:ext cx="3493008" cy="292608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148840"/>
            <a:ext cx="91440" cy="292608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24688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F7070"/>
                </a:solidFill>
                <a:latin typeface="Aptos"/>
              </a:defRPr>
            </a:pPr>
            <a:r>
              <a:t>TRUST BREAKS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971800"/>
            <a:ext cx="28803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6F9FC"/>
                </a:solidFill>
                <a:latin typeface="Aptos"/>
              </a:defRPr>
            </a:pPr>
            <a:r>
              <a:t>Partners dispute ownership, terms, or what was actually agreed.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4389120"/>
            <a:ext cx="2880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A9B9CA"/>
                </a:solidFill>
                <a:latin typeface="Aptos"/>
              </a:defRPr>
            </a:pPr>
            <a:r>
              <a:t>Weeks of back-and-forth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148840"/>
            <a:ext cx="3493008" cy="292608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2148840"/>
            <a:ext cx="91440" cy="2926080"/>
          </a:xfrm>
          <a:prstGeom prst="rect">
            <a:avLst/>
          </a:prstGeom>
          <a:solidFill>
            <a:srgbClr val="70A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24688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70ABFF"/>
                </a:solidFill>
                <a:latin typeface="Aptos"/>
              </a:defRPr>
            </a:pPr>
            <a:r>
              <a:t>DECISIONS 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2971800"/>
            <a:ext cx="28803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6F9FC"/>
                </a:solidFill>
                <a:latin typeface="Aptos"/>
              </a:defRPr>
            </a:pPr>
            <a:r>
              <a:t>Teams chase emails and spreadsheets instead of finding the missing proof.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4389120"/>
            <a:ext cx="2880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A9B9CA"/>
                </a:solidFill>
                <a:latin typeface="Aptos"/>
              </a:defRPr>
            </a:pPr>
            <a:r>
              <a:t>Slow, hard-to-audit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6F9FC"/>
                </a:solidFill>
                <a:latin typeface="Aptos"/>
              </a:defRPr>
            </a:pPr>
            <a:r>
              <a:t>The gap: a comparison can show a mismatch. It rarely tells people what evidence would settle it—or how to defend the final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02 / THE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6F9FC"/>
                </a:solidFill>
                <a:latin typeface="Aptos"/>
              </a:defRPr>
            </a:pPr>
            <a:r>
              <a:t>A small mismatch can become a costly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Example: a procurement team is asked to pay an invoice that does not match the purchase order.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291072"/>
            <a:ext cx="109270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1908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CLEARTRACE LABS  •  DECISIONS GROUNDED IN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3154680" cy="192024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PURCHASE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2560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F6F9FC"/>
                </a:solidFill>
                <a:latin typeface="Aptos"/>
              </a:defRPr>
            </a:pPr>
            <a:r>
              <a:t>90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9CA"/>
                </a:solidFill>
                <a:latin typeface="Aptos"/>
              </a:defRPr>
            </a:pPr>
            <a:r>
              <a:t>Authorized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148840"/>
            <a:ext cx="3154680" cy="192024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423160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FB05C"/>
                </a:solidFill>
                <a:latin typeface="Aptos"/>
              </a:defRPr>
            </a:pPr>
            <a:r>
              <a:t>SUPPLIER INVOICE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88920"/>
            <a:ext cx="2560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600" b="1" i="0">
                <a:solidFill>
                  <a:srgbClr val="F6F9FC"/>
                </a:solidFill>
                <a:latin typeface="Aptos"/>
              </a:defRPr>
            </a:pPr>
            <a:r>
              <a:t>100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42900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9CA"/>
                </a:solidFill>
                <a:latin typeface="Aptos"/>
              </a:defRPr>
            </a:pPr>
            <a:r>
              <a:t>Amount requested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3108960"/>
            <a:ext cx="246887" cy="0"/>
          </a:xfrm>
          <a:prstGeom prst="line">
            <a:avLst/>
          </a:prstGeom>
          <a:ln w="25400">
            <a:solidFill>
              <a:srgbClr val="2F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26679" y="2148840"/>
            <a:ext cx="3566160" cy="1920240"/>
          </a:xfrm>
          <a:prstGeom prst="roundRect">
            <a:avLst/>
          </a:prstGeom>
          <a:solidFill>
            <a:srgbClr val="342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423160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FB05C"/>
                </a:solidFill>
                <a:latin typeface="Aptos"/>
              </a:defRPr>
            </a:pPr>
            <a:r>
              <a:t>POTENTIAL VARIANCE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88920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500" b="1" i="0">
                <a:solidFill>
                  <a:srgbClr val="F6F9FC"/>
                </a:solidFill>
                <a:latin typeface="Aptos"/>
              </a:defRPr>
            </a:pPr>
            <a:r>
              <a:t>KSh 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4290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9CA"/>
                </a:solidFill>
                <a:latin typeface="Aptos"/>
              </a:defRPr>
            </a:pPr>
            <a:r>
              <a:t>10 extra units × KSh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F6F9FC"/>
                </a:solidFill>
                <a:latin typeface="Aptos"/>
              </a:defRPr>
            </a:pPr>
            <a:r>
              <a:t>But the mismatch alone does not prove fraud—or prove the invoice is wrong.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47488"/>
            <a:ext cx="105156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A9B9CA"/>
                </a:solidFill>
                <a:latin typeface="Aptos"/>
              </a:defRPr>
            </a:pPr>
            <a:r>
              <a:t>Was there an approved amendment? Were 100 units delivered? Which document governs payment? The right next step is to identify the evidence needed, not guess.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03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6F9FC"/>
                </a:solidFill>
                <a:latin typeface="Aptos"/>
              </a:defRPr>
            </a:pPr>
            <a:r>
              <a:t>ClearTrace turns conflicting records into a clear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One workspace to understand the disagreement, find what is missing, and record a defensible outcome.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291072"/>
            <a:ext cx="109270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1908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CLEARTRACE LABS  •  DECISIONS GROUNDED IN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566928" cy="566928"/>
          </a:xfrm>
          <a:prstGeom prst="roundRect">
            <a:avLst/>
          </a:prstGeom>
          <a:solidFill>
            <a:srgbClr val="1D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57400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6F9FC"/>
                </a:solidFill>
                <a:latin typeface="Aptos"/>
              </a:defRPr>
            </a:pPr>
            <a:r>
              <a:t>Bring the records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057400"/>
            <a:ext cx="5440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A9B9CA"/>
                </a:solidFill>
                <a:latin typeface="Aptos"/>
              </a:defRPr>
            </a:pPr>
            <a:r>
              <a:t>Upload the relevant documents, claims, or partner statements.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60704" y="2642616"/>
            <a:ext cx="0" cy="283464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990088"/>
            <a:ext cx="566928" cy="566928"/>
          </a:xfrm>
          <a:prstGeom prst="roundRect">
            <a:avLst/>
          </a:prstGeom>
          <a:solidFill>
            <a:srgbClr val="1D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90088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6F9FC"/>
                </a:solidFill>
                <a:latin typeface="Aptos"/>
              </a:defRPr>
            </a:pPr>
            <a:r>
              <a:t>See what agrees—and what doesn’t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990088"/>
            <a:ext cx="5440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A9B9CA"/>
                </a:solidFill>
                <a:latin typeface="Aptos"/>
              </a:defRPr>
            </a:pPr>
            <a:r>
              <a:t>Separate supported facts, contradictions, and unknowns.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0704" y="3575304"/>
            <a:ext cx="0" cy="283464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3922776"/>
            <a:ext cx="566928" cy="566928"/>
          </a:xfrm>
          <a:prstGeom prst="roundRect">
            <a:avLst/>
          </a:prstGeom>
          <a:solidFill>
            <a:srgbClr val="1D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59936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22776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6F9FC"/>
                </a:solidFill>
                <a:latin typeface="Aptos"/>
              </a:defRPr>
            </a:pPr>
            <a:r>
              <a:t>Find the next best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922776"/>
            <a:ext cx="5440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A9B9CA"/>
                </a:solidFill>
                <a:latin typeface="Aptos"/>
              </a:defRPr>
            </a:pPr>
            <a:r>
              <a:t>Get focused requests that can move the case forward.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0704" y="4507992"/>
            <a:ext cx="0" cy="283464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4855464"/>
            <a:ext cx="566928" cy="566928"/>
          </a:xfrm>
          <a:prstGeom prst="roundRect">
            <a:avLst/>
          </a:prstGeom>
          <a:solidFill>
            <a:srgbClr val="1D4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92624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55464"/>
            <a:ext cx="3886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6F9FC"/>
                </a:solidFill>
                <a:latin typeface="Aptos"/>
              </a:defRPr>
            </a:pPr>
            <a:r>
              <a:t>Decide with accountability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4855464"/>
            <a:ext cx="5440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A9B9CA"/>
                </a:solidFill>
                <a:latin typeface="Aptos"/>
              </a:defRPr>
            </a:pPr>
            <a:r>
              <a:t>A human reviews the evidence, records a reason, and exports the trail.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833872"/>
            <a:ext cx="10469880" cy="310896"/>
          </a:xfrm>
          <a:prstGeom prst="roundRect">
            <a:avLst/>
          </a:prstGeom>
          <a:solidFill>
            <a:srgbClr val="19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79592"/>
            <a:ext cx="10149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ClearTrace does not manufacture consensus. It makes uncertainty visible and resolution actionable.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04 /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6F9FC"/>
                </a:solidFill>
                <a:latin typeface="Aptos"/>
              </a:defRPr>
            </a:pPr>
            <a:r>
              <a:t>Not another chatbot. Not just a document diff.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ClearTrace is designed for decisions that must stand up to scrutiny.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291072"/>
            <a:ext cx="109270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1908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CLEARTRACE LABS  •  DECISIONS GROUNDED IN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4892040" cy="475488"/>
          </a:xfrm>
          <a:prstGeom prst="roundRect">
            <a:avLst/>
          </a:prstGeom>
          <a:solidFill>
            <a:srgbClr val="243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0" y="2057400"/>
            <a:ext cx="5577840" cy="475488"/>
          </a:xfrm>
          <a:prstGeom prst="roundRect">
            <a:avLst/>
          </a:prstGeom>
          <a:solidFill>
            <a:srgbClr val="174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452627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A9B9CA"/>
                </a:solidFill>
                <a:latin typeface="Aptos"/>
              </a:defRPr>
            </a:pPr>
            <a:r>
              <a:t>COMMON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2176272"/>
            <a:ext cx="5120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CLEARTRACE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Shows two documents differ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2697480"/>
            <a:ext cx="5120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6F9FC"/>
                </a:solidFill>
                <a:latin typeface="Aptos"/>
              </a:defRPr>
            </a:pPr>
            <a:r>
              <a:t>Explains the specific claim in dispute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" y="3136392"/>
            <a:ext cx="102412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3300984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Gives a confident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3300984"/>
            <a:ext cx="5120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6F9FC"/>
                </a:solidFill>
                <a:latin typeface="Aptos"/>
              </a:defRPr>
            </a:pPr>
            <a:r>
              <a:t>Separates evidence, assumptions, and unknowns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" y="3739896"/>
            <a:ext cx="102412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904488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Asks for “more context”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3904488"/>
            <a:ext cx="5120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6F9FC"/>
                </a:solidFill>
                <a:latin typeface="Aptos"/>
              </a:defRPr>
            </a:pPr>
            <a:r>
              <a:t>Suggests targeted evidence that could resolve the issue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" y="4343400"/>
            <a:ext cx="102412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507992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Leaves decisions in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4507992"/>
            <a:ext cx="5120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6F9FC"/>
                </a:solidFill>
                <a:latin typeface="Aptos"/>
              </a:defRPr>
            </a:pPr>
            <a:r>
              <a:t>Records reviewer, rationale, and outcome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4946904"/>
            <a:ext cx="102412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511149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A report says “verified”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5111496"/>
            <a:ext cx="5120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6F9FC"/>
                </a:solidFill>
                <a:latin typeface="Aptos"/>
              </a:defRPr>
            </a:pPr>
            <a:r>
              <a:t>Integrity checks are distinct from factual truth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97880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The promise: clearer decisions, fewer avoidable disputes, and an audit trail that explains how the decision was reached.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05 /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6F9FC"/>
                </a:solidFill>
                <a:latin typeface="Aptos"/>
              </a:defRPr>
            </a:pPr>
            <a:r>
              <a:t>Start where disagreement creates real operational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A focused entry market, with a path into other evidence-heavy workflows.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291072"/>
            <a:ext cx="109270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1908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CLEARTRACE LABS  •  DECISIONS GROUNDED IN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456432" cy="251460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PROCUREMENT &amp;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9718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6F9FC"/>
                </a:solidFill>
                <a:latin typeface="Aptos"/>
              </a:defRPr>
            </a:pPr>
            <a:r>
              <a:t>Invoice / PO mismatch, duplicate charges, delivery disputes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4069080"/>
            <a:ext cx="2880360" cy="0"/>
          </a:xfrm>
          <a:prstGeom prst="line">
            <a:avLst/>
          </a:prstGeom>
          <a:ln w="12700">
            <a:solidFill>
              <a:srgbClr val="3146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4251960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9CA"/>
                </a:solidFill>
                <a:latin typeface="Aptos"/>
              </a:defRPr>
            </a:pPr>
            <a:r>
              <a:t>Buyer: Finance lead or procurement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2240280"/>
            <a:ext cx="3456432" cy="251460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514600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CONTRACT &amp; PARTNER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3063240"/>
            <a:ext cx="29718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6F9FC"/>
                </a:solidFill>
                <a:latin typeface="Aptos"/>
              </a:defRPr>
            </a:pPr>
            <a:r>
              <a:t>Conflicting terms, amendments, milestones, and obligations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9744" y="4069080"/>
            <a:ext cx="2880360" cy="0"/>
          </a:xfrm>
          <a:prstGeom prst="line">
            <a:avLst/>
          </a:prstGeom>
          <a:ln w="12700">
            <a:solidFill>
              <a:srgbClr val="3146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09744" y="4251960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9CA"/>
                </a:solidFill>
                <a:latin typeface="Aptos"/>
              </a:defRPr>
            </a:pPr>
            <a:r>
              <a:t>Buyer: Operations or compliance lead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5048" y="2240280"/>
            <a:ext cx="3456432" cy="251460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2514600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RIGHTS &amp; CONTENT DISPUTES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3063240"/>
            <a:ext cx="29718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6F9FC"/>
                </a:solidFill>
                <a:latin typeface="Aptos"/>
              </a:defRPr>
            </a:pPr>
            <a:r>
              <a:t>Conflicting ownership, splits, permissions, and agreements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13648" y="4069080"/>
            <a:ext cx="2880360" cy="0"/>
          </a:xfrm>
          <a:prstGeom prst="line">
            <a:avLst/>
          </a:prstGeom>
          <a:ln w="12700">
            <a:solidFill>
              <a:srgbClr val="3146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13648" y="4251960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9CA"/>
                </a:solidFill>
                <a:latin typeface="Aptos"/>
              </a:defRPr>
            </a:pPr>
            <a:r>
              <a:t>Buyer: Rights manager or platform 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30368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6F9FC"/>
                </a:solidFill>
                <a:latin typeface="Aptos"/>
              </a:defRPr>
            </a:pPr>
            <a:r>
              <a:t>Initial wedge: teams that repeatedly reconcile documents and need a documented reason before money, rights, or commitments move.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9CA"/>
                </a:solidFill>
                <a:latin typeface="Aptos"/>
              </a:defRPr>
            </a:pPr>
            <a:r>
              <a:t>Expansion follows the same pattern: conflicting accounts, material consequences, and a need for accountable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06 /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6F9FC"/>
                </a:solidFill>
                <a:latin typeface="Aptos"/>
              </a:defRPr>
            </a:pPr>
            <a:r>
              <a:t>Charge for reliable resolution—not another AI seat.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A SaaS model aligned with the cost of disputes and the value of a defensible decision.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291072"/>
            <a:ext cx="109270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1908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CLEARTRACE LABS  •  DECISIONS GROUNDED IN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3493008" cy="306324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100" b="1" i="0">
                <a:solidFill>
                  <a:srgbClr val="F6F9FC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2971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9CA"/>
                </a:solidFill>
                <a:latin typeface="Aptos"/>
              </a:defRPr>
            </a:pPr>
            <a:r>
              <a:t>For small teams testing a repeatable workflow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3931920"/>
            <a:ext cx="2926080" cy="0"/>
          </a:xfrm>
          <a:prstGeom prst="line">
            <a:avLst/>
          </a:prstGeom>
          <a:ln w="12700">
            <a:solidFill>
              <a:srgbClr val="3146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4114800"/>
            <a:ext cx="29718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Monthly subscription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Limited cases and users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Standard exports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2148840"/>
            <a:ext cx="3493008" cy="306324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2423160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70ABFF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8892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100" b="1" i="0">
                <a:solidFill>
                  <a:srgbClr val="F6F9FC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310128"/>
            <a:ext cx="2971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9CA"/>
                </a:solidFill>
                <a:latin typeface="Aptos"/>
              </a:defRPr>
            </a:pPr>
            <a:r>
              <a:t>For operations teams handling recurring disputes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82312" y="3931920"/>
            <a:ext cx="2926080" cy="0"/>
          </a:xfrm>
          <a:prstGeom prst="line">
            <a:avLst/>
          </a:prstGeom>
          <a:ln w="12700">
            <a:solidFill>
              <a:srgbClr val="3146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82312" y="4114800"/>
            <a:ext cx="29718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Workspace subscription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Higher case volume and collaboration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Audit history and review workflows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75904" y="2148840"/>
            <a:ext cx="3493008" cy="3063240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4504" y="2423160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FB05C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2788920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100" b="1" i="0">
                <a:solidFill>
                  <a:srgbClr val="F6F9FC"/>
                </a:solidFill>
                <a:latin typeface="Aptos"/>
              </a:defRPr>
            </a:pPr>
            <a: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504" y="3310128"/>
            <a:ext cx="2971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9B9CA"/>
                </a:solidFill>
                <a:latin typeface="Aptos"/>
              </a:defRPr>
            </a:pPr>
            <a:r>
              <a:t>For regulated or multi-entity organizations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04504" y="3931920"/>
            <a:ext cx="2926080" cy="0"/>
          </a:xfrm>
          <a:prstGeom prst="line">
            <a:avLst/>
          </a:prstGeom>
          <a:ln w="12700">
            <a:solidFill>
              <a:srgbClr val="3146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04504" y="4114800"/>
            <a:ext cx="29718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Annual contract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Role-based access and retention controls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F6F9FC"/>
                </a:solidFill>
                <a:latin typeface="Aptos"/>
              </a:defRPr>
            </a:pPr>
            <a:r>
              <a:t>Integrations, support, deployment options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68112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Potential add-ons: case-volume packs • system integrations • managed onboarding • premium audit and compliance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3387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1">
                <a:solidFill>
                  <a:srgbClr val="A9B9CA"/>
                </a:solidFill>
                <a:latin typeface="Aptos"/>
              </a:defRPr>
            </a:pPr>
            <a:r>
              <a:t>Pricing hypothesis to validate with pilots; no prices or revenue claims are assumed.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07 /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6F9FC"/>
                </a:solidFill>
                <a:latin typeface="Aptos"/>
              </a:defRPr>
            </a:pPr>
            <a:r>
              <a:t>Win trust in one workflow, then expand.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A practical path from design partners to repeatable revenue.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291072"/>
            <a:ext cx="109270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1908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CLEARTRACE LABS  •  DECISIONS GROUNDED IN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5212080" cy="1307592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1. DESIGN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4681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6F9FC"/>
                </a:solidFill>
                <a:latin typeface="Aptos"/>
              </a:defRPr>
            </a:pPr>
            <a:r>
              <a:t>Recruit 3–5 teams with frequent invoice, contract, or delivery disputes.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0088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9CA"/>
                </a:solidFill>
                <a:latin typeface="Aptos"/>
              </a:defRPr>
            </a:pPr>
            <a:r>
              <a:t>Signal: users bring real cases and return.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57400"/>
            <a:ext cx="5212080" cy="1307592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21992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2. PAID 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32888"/>
            <a:ext cx="4681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6F9FC"/>
                </a:solidFill>
                <a:latin typeface="Aptos"/>
              </a:defRPr>
            </a:pPr>
            <a:r>
              <a:t>Run a time-boxed pilot with a defined workflow and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90088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9CA"/>
                </a:solidFill>
                <a:latin typeface="Aptos"/>
              </a:defRPr>
            </a:pPr>
            <a:r>
              <a:t>Measure resolution time, escalations, evidence completeness.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30168"/>
            <a:ext cx="5212080" cy="1307592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94759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3. REPEATABLE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05656"/>
            <a:ext cx="4681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6F9FC"/>
                </a:solidFill>
                <a:latin typeface="Aptos"/>
              </a:defRPr>
            </a:pPr>
            <a:r>
              <a:t>Package onboarding, security answers, and case templates.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62856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9CA"/>
                </a:solidFill>
                <a:latin typeface="Aptos"/>
              </a:defRPr>
            </a:pPr>
            <a:r>
              <a:t>Convert successful pilots into annual contracts.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30168"/>
            <a:ext cx="5212080" cy="1307592"/>
          </a:xfrm>
          <a:prstGeom prst="round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794759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4. EXPAND ACCOUNTS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105656"/>
            <a:ext cx="46817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6F9FC"/>
                </a:solidFill>
                <a:latin typeface="Aptos"/>
              </a:defRPr>
            </a:pPr>
            <a:r>
              <a:t>Add teams, workflows, and integrations after demonstrated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62856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9B9CA"/>
                </a:solidFill>
                <a:latin typeface="Aptos"/>
              </a:defRPr>
            </a:pPr>
            <a:r>
              <a:t>Grow through recurring use—not speculative promises.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40680"/>
            <a:ext cx="10469880" cy="438912"/>
          </a:xfrm>
          <a:prstGeom prst="roundRect">
            <a:avLst/>
          </a:prstGeom>
          <a:solidFill>
            <a:srgbClr val="1F3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41264"/>
            <a:ext cx="10104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6F9FC"/>
                </a:solidFill>
                <a:latin typeface="Aptos"/>
              </a:defRPr>
            </a:pPr>
            <a:r>
              <a:t>Proof points: time saved per case • fewer avoidable escalations • reviewer confidence • willingness to pay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08 / TRUST &amp;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6F9FC"/>
                </a:solidFill>
                <a:latin typeface="Aptos"/>
              </a:defRPr>
            </a:pPr>
            <a:r>
              <a:t>Make the decision explainable—and keep humans accountable.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A9B9CA"/>
                </a:solidFill>
                <a:latin typeface="Aptos"/>
              </a:defRPr>
            </a:pPr>
            <a:r>
              <a:t>For high-stakes disputes, the right product is not an automatic verdict. It is a better decision process.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291072"/>
            <a:ext cx="10927080" cy="0"/>
          </a:xfrm>
          <a:prstGeom prst="line">
            <a:avLst/>
          </a:prstGeom>
          <a:ln w="12700">
            <a:solidFill>
              <a:srgbClr val="142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1908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CLEARTRACE LABS  •  DECISIONS GROUNDED IN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800" b="1" i="0">
                <a:solidFill>
                  <a:srgbClr val="A9B9C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18872" cy="548640"/>
          </a:xfrm>
          <a:prstGeom prst="roundRect">
            <a:avLst/>
          </a:prstGeom>
          <a:solidFill>
            <a:srgbClr val="2FD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84831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EVIDENCE BEFORE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075688"/>
            <a:ext cx="6858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6F9FC"/>
                </a:solidFill>
                <a:latin typeface="Aptos"/>
              </a:defRPr>
            </a:pPr>
            <a:r>
              <a:t>Show what each source supports and where accounts conflict.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9504"/>
            <a:ext cx="118872" cy="548640"/>
          </a:xfrm>
          <a:prstGeom prst="roundRect">
            <a:avLst/>
          </a:prstGeom>
          <a:solidFill>
            <a:srgbClr val="2FD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16936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UNCERTAINTY STAYS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07792"/>
            <a:ext cx="6858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6F9FC"/>
                </a:solidFill>
                <a:latin typeface="Aptos"/>
              </a:defRPr>
            </a:pPr>
            <a:r>
              <a:t>Label unresolved claims; never disguise missing evidence as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21608"/>
            <a:ext cx="118872" cy="548640"/>
          </a:xfrm>
          <a:prstGeom prst="roundRect">
            <a:avLst/>
          </a:prstGeom>
          <a:solidFill>
            <a:srgbClr val="2FD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49040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39896"/>
            <a:ext cx="6858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6F9FC"/>
                </a:solidFill>
                <a:latin typeface="Aptos"/>
              </a:defRPr>
            </a:pPr>
            <a:r>
              <a:t>Authorized reviewers choose the outcome and record their rationale.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553712"/>
            <a:ext cx="118872" cy="548640"/>
          </a:xfrm>
          <a:prstGeom prst="roundRect">
            <a:avLst/>
          </a:prstGeom>
          <a:solidFill>
            <a:srgbClr val="2FD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581144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TRACEABLE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72000"/>
            <a:ext cx="6858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6F9FC"/>
                </a:solidFill>
                <a:latin typeface="Aptos"/>
              </a:defRPr>
            </a:pPr>
            <a:r>
              <a:t>Preserve case history and provide integrity checks for exported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332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FB05C"/>
                </a:solidFill>
                <a:latin typeface="Aptos"/>
              </a:defRPr>
            </a:pPr>
            <a:r>
              <a:t>Integrity checks can show whether a record changed; they do not prove that the original claim was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2FD3B5"/>
                </a:solidFill>
                <a:latin typeface="Aptos"/>
              </a:defRPr>
            </a:pPr>
            <a:r>
              <a:t>09 /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65836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3100" b="1" i="0">
                <a:solidFill>
                  <a:srgbClr val="F6F9FC"/>
                </a:solidFill>
                <a:latin typeface="Aptos"/>
              </a:defRPr>
            </a:pPr>
            <a:r>
              <a:t>Turn disputes from</a:t>
            </a:r>
          </a:p>
          <a:p>
            <a:pPr algn="l">
              <a:spcAft>
                <a:spcPts val="500"/>
              </a:spcAft>
              <a:defRPr sz="3100" b="1" i="0">
                <a:solidFill>
                  <a:srgbClr val="F6F9FC"/>
                </a:solidFill>
                <a:latin typeface="Aptos"/>
              </a:defRPr>
            </a:pPr>
            <a:r>
              <a:t>cost centers into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6217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A9B9CA"/>
                </a:solidFill>
                <a:latin typeface="Aptos"/>
              </a:defRPr>
            </a:pPr>
            <a:r>
              <a:t>We’re building ClearTrace Labs for teams that cannot afford to guess when the records disagree.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2FD3B5"/>
                </a:solidFill>
                <a:latin typeface="Aptos"/>
              </a:defRPr>
            </a:pPr>
            <a:r>
              <a:t>WHAT WE’RE LOOKING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6217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6F9FC"/>
                </a:solidFill>
                <a:latin typeface="Aptos"/>
              </a:defRPr>
            </a:pPr>
            <a:r>
              <a:t>•  Design partners with real reconciliation workflows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6F9FC"/>
                </a:solidFill>
                <a:latin typeface="Aptos"/>
              </a:defRPr>
            </a:pPr>
            <a:r>
              <a:t>•  Pilot customers willing to measure outcomes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6F9FC"/>
                </a:solidFill>
                <a:latin typeface="Aptos"/>
              </a:defRPr>
            </a:pPr>
            <a:r>
              <a:t>•  Partners in finance, procurement, compliance, and rights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96012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2FD3B5"/>
                </a:solidFill>
                <a:latin typeface="Aptos"/>
              </a:defRPr>
            </a:pPr>
            <a:r>
              <a:t>THE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4290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2100" b="1" i="0">
                <a:solidFill>
                  <a:srgbClr val="F6F9FC"/>
                </a:solidFill>
                <a:latin typeface="Aptos"/>
              </a:defRPr>
            </a:pPr>
            <a:r>
              <a:t>Every important disagreement should have a clear path to resolution.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49640" y="3154680"/>
            <a:ext cx="2514600" cy="0"/>
          </a:xfrm>
          <a:prstGeom prst="line">
            <a:avLst/>
          </a:prstGeom>
          <a:ln w="25400">
            <a:solidFill>
              <a:srgbClr val="2F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3566160"/>
            <a:ext cx="342900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A9B9CA"/>
                </a:solidFill>
                <a:latin typeface="Aptos"/>
              </a:defRPr>
            </a:pPr>
            <a:r>
              <a:t>Less time chasing versions.</a:t>
            </a:r>
          </a:p>
          <a:p>
            <a:pPr algn="ctr">
              <a:spcAft>
                <a:spcPts val="500"/>
              </a:spcAft>
              <a:defRPr sz="1600" b="1" i="0">
                <a:solidFill>
                  <a:srgbClr val="A9B9CA"/>
                </a:solidFill>
                <a:latin typeface="Aptos"/>
              </a:defRPr>
            </a:pPr>
            <a:r>
              <a:t>Fewer avoidable losses.</a:t>
            </a:r>
          </a:p>
          <a:p>
            <a:pPr algn="ctr">
              <a:spcAft>
                <a:spcPts val="500"/>
              </a:spcAft>
              <a:defRPr sz="1600" b="1" i="0">
                <a:solidFill>
                  <a:srgbClr val="A9B9CA"/>
                </a:solidFill>
                <a:latin typeface="Aptos"/>
              </a:defRPr>
            </a:pPr>
            <a:r>
              <a:t>More accountable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5623560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2FD3B5"/>
                </a:solidFill>
                <a:latin typeface="Aptos"/>
              </a:defRPr>
            </a:pPr>
            <a:r>
              <a:t>CLEARTRACE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44768"/>
            <a:ext cx="6035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A9B9CA"/>
                </a:solidFill>
                <a:latin typeface="Aptos"/>
              </a:defRPr>
            </a:pPr>
            <a:r>
              <a:t>ClearTrace Labs  |  Product pitch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